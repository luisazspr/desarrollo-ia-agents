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Seguimos con el mismo tema. La PC1 clasificaba un requerimiento, la PC2 buscaba evidencia con un recuperador denso. En el parcial juntamos las dos cosas y medimos cada pieza por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Arriba el flujo RAG: la consulta pasa por las tres condiciones del experimento 1 y los 5 primeros pasajes de C van al LLM con su id. Abajo la herramienta, que es independiente: no hay agente que las conecte.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fila apunta a un archivo del repositorio; el detalle está en la sección 5 del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frente a B cambia dos cosas a la vez, BM25 y la fusión. B frente a C solo reordena los mismos 20 candidatos. El reranker ayuda arriba de la lista pero cuesta 1 segundo por consulta. Con 20 consultas solo C contra A es distinguible de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evidencia el modelo casi siempre se abstiene. Con evidencia responde bien 8 de 10, pero pierde la abstención: el recuperador siempre devuelve 5 pasajes y el modelo los usa aunque no respondan la pregunta.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herramienta no decide si hay direccionamiento: da hechos del registro para contrastar al LLM. En Q15 el LLM se contradice y la herramienta devuelve la alerta equivalente_solo_en_objeto.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Ninguna conclusión se generaliza fuera de este benchmark. Lo que queda para la semana 9 en adelante es un recuperador evaluado, un generador con sus fallos documentados y una herramienta con contratos.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Examen Parcial - Tópicos de Ciencia de la Computación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Recuperación, RAG y contratos de herramientas sobre registros OCDS del SEACE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Problema y continuidad con la PC1 y la PC2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• Un requisito está direccionado cuando favorece a una marca, por ejemplo pidiéndola sin "o equivalente"</a:t>
            </a:r>
          </a:p>
          <a:p>
            <a:pPr lvl="1">
              <a:spcAft>
                <a:spcPts val="600"/>
              </a:spcAft>
            </a:pPr>
            <a:r>
              <a:rPr sz="1700"/>
              <a:t>- La evidencia está repartida en muchos procesos parecidos y una respuesta sin fuente no sirve</a:t>
            </a:r>
          </a:p>
          <a:p>
            <a:pPr>
              <a:spcAft>
                <a:spcPts val="600"/>
              </a:spcAft>
            </a:pPr>
            <a:r>
              <a:rPr sz="2000"/>
              <a:t>• PC1: Qwen2.5-0.5B clasifica un requerimiento OCDS en un JSON validado, pero no busca evidencia</a:t>
            </a:r>
          </a:p>
          <a:p>
            <a:pPr>
              <a:spcAft>
                <a:spcPts val="600"/>
              </a:spcAft>
            </a:pPr>
            <a:r>
              <a:rPr sz="2000"/>
              <a:t>• PC2: recuperador denso sobre 10 fichas, Recall@3 = 0,47</a:t>
            </a:r>
          </a:p>
          <a:p>
            <a:pPr lvl="1">
              <a:spcAft>
                <a:spcPts val="600"/>
              </a:spcAft>
            </a:pPr>
            <a:r>
              <a:rPr sz="1700"/>
              <a:t>- El chunk separaba la buena pro del ítem que la identifica, y "o equivalente" se perdía en el embedding</a:t>
            </a:r>
          </a:p>
          <a:p>
            <a:pPr>
              <a:spcAft>
                <a:spcPts val="600"/>
              </a:spcAft>
            </a:pPr>
            <a:r>
              <a:rPr sz="2000"/>
              <a:t>• EP: 55 procesos reales, 20 consultas con qrels, comparación A/B/C, RAG con citas y una herramienta con contratos</a:t>
            </a:r>
          </a:p>
          <a:p>
            <a:pPr lvl="1">
              <a:spcAft>
                <a:spcPts val="600"/>
              </a:spcAft>
            </a:pPr>
            <a:r>
              <a:rPr sz="1700"/>
              <a:t>- Corrección a la PC2: la unidad es un pasaje + el encabezado de su proceso (la config. de la PC2 queda como A0)</a:t>
            </a:r>
          </a:p>
          <a:p>
            <a:pPr>
              <a:spcAft>
                <a:spcPts val="600"/>
              </a:spcAft>
            </a:pPr>
            <a:r>
              <a:rPr sz="2000"/>
              <a:t>• Pregunta: ¿qué recuperación encuentra mejor la evidencia, cuánto cuesta, y con esa evidencia el LLM responde bien y sustentado?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Arquitectura y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417320"/>
            <a:ext cx="118872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consulta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00200" y="1828800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783080" y="1417320"/>
            <a:ext cx="137160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e5 + FAISS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(A)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1828800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337560" y="1417320"/>
            <a:ext cx="146304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+ BM25 + RRF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(B)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1828800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983480" y="1417320"/>
            <a:ext cx="164592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+ Cross-Encoder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(C)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29400" y="1828800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12280" y="1417320"/>
            <a:ext cx="146304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top-5 pasajes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con su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75320" y="1828800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58200" y="1417320"/>
            <a:ext cx="146304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Qwen2.5-1.5B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greedy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0" y="1828800"/>
            <a:ext cx="182879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104120" y="1417320"/>
            <a:ext cx="173736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JSON: respuesta,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citas, abstencion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06040"/>
            <a:ext cx="1188720" cy="685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ocid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944368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83080" y="2606040"/>
            <a:ext cx="3017520" cy="685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ocds.indicadores_proceso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contrato entrada -&gt; dominio -&gt; salida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2944368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983480" y="2606040"/>
            <a:ext cx="2377440" cy="685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000000"/>
                </a:solidFill>
              </a:rPr>
              <a:t>ToolResult / ToolError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reintento selectivo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11480" y="365760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601200"/>
              </a:tblGrid>
              <a:tr h="384048">
                <a:tc>
                  <a:txBody>
                    <a:bodyPr/>
                    <a:lstStyle/>
                    <a:p>
                      <a:r>
                        <a:rPr sz="1400"/>
                        <a:t>Datos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/>
                  </a:txBody>
                  <a:tcPr marT="27432" marB="27432"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Corpus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55 procesos reales del SEACE (OCDS), 426 pasajes</a:t>
                      </a:r>
                    </a:p>
                  </a:txBody>
                  <a:tcPr marT="27432" marB="27432"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Pasajes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convocatoria, ítems, cronograma, documentos, postores, resultado, contrato</a:t>
                      </a:r>
                    </a:p>
                  </a:txBody>
                  <a:tcPr marT="27432" marB="27432"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Consultas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22: 20 con qrels (11 difíciles, distractores reales) y 2 controles sin evidencia</a:t>
                      </a:r>
                    </a:p>
                  </a:txBody>
                  <a:tcPr marT="27432" marB="27432"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qrels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anotados leyendo los pasajes y congelados con SHA-256 antes de correr (b623b36)</a:t>
                      </a:r>
                    </a:p>
                  </a:txBody>
                  <a:tcPr marT="27432" marB="27432"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/>
                        <a:t>Modelos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e5-small, mMiniLM Cross-Encoder, Qwen2.5-1.5B; revisiones fijadas, CPU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Trazabilidad de las semanas 1 a 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3856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3840480"/>
                <a:gridCol w="4297680"/>
              </a:tblGrid>
              <a:tr h="566928">
                <a:tc>
                  <a:txBody>
                    <a:bodyPr/>
                    <a:lstStyle/>
                    <a:p>
                      <a:r>
                        <a:rPr sz="1400"/>
                        <a:t>Semana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Recurso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Dónde se aplica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Evidencia / conclusión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Lectura 2, Cuaderno 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bi-encoder (e5) vs Cross-Encoder (atención conjunta)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 gana MRR +0,16 sobre A, pero cuesta ~48 veces más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Lectura 3, Cuaderno 2, Lab 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greedy y costo del contexto en el exp. 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271 vs 943 tokens de prompt; 20 s vs 35 s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Cuaderno 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JSON {respuesta, citas, abstencion}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24/24 JSON válidos, 4 incorrectas: formato ≠ corrección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Cuaderno 4, Lab 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unidad de recuperación, FAISS IndexFlatIP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A − A0: MRR +0,18 [0,05; 0,32]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Cuaderno 5, Lectura 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BM25, RRF k = 60, Cross-Encoder, RAG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Q06: rank 4 -&gt; 1 con BM25; B ≈ A en promedio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Cuaderno 6, Lectura 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contratos, ToolError, reintento, timeout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A 6/16, D 16/16 sin reintentos inútiles</a:t>
                      </a:r>
                    </a:p>
                  </a:txBody>
                  <a:tcPr marT="27432" marB="27432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Cuaderno 7, Lectura 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Recall@k, MRR, nDCG, bootstrap, auditoría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solo C − A no cruza cero; citas auto ≠ manual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Experimento 1: recuperación densa, híbrida y con reranking</a:t>
            </a:r>
          </a:p>
        </p:txBody>
      </p:sp>
      <p:pic>
        <p:nvPicPr>
          <p:cNvPr id="3" name="Picture 2" descr="exp1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766560" cy="304495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69480" y="1234440"/>
          <a:ext cx="3749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1188720"/>
              </a:tblGrid>
              <a:tr h="347472">
                <a:tc>
                  <a:txBody>
                    <a:bodyPr/>
                    <a:lstStyle/>
                    <a:p/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Latencia media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p95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A0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25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31 ms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22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24 ms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23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26 ms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1066 ms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2011 ms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3154680"/>
          <a:ext cx="37490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</a:tblGrid>
              <a:tr h="347472">
                <a:tc>
                  <a:txBody>
                    <a:bodyPr/>
                    <a:lstStyle/>
                    <a:p>
                      <a:r>
                        <a:rPr sz="1300"/>
                        <a:t>Bootstrap (MRR)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Δ e IC 95 %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B − 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+0,02 [−0,10; 0,15]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C − B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+0,14 [−0,01; 0,30]</a:t>
                      </a:r>
                    </a:p>
                  </a:txBody>
                  <a:tcPr marT="27432" marB="27432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/>
                        <a:t>C − 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+0,16 [0,02; 0,31]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43484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Q06 (código 006R01830): rank 4 en A, rank 1 con BM25</a:t>
            </a:r>
          </a:p>
          <a:p>
            <a:pPr>
              <a:spcAft>
                <a:spcPts val="600"/>
              </a:spcAft>
            </a:pPr>
            <a:r>
              <a:rPr sz="1600"/>
              <a:t>• Q20, Q12: solo el Cross-Encoder pone la buena pro / los postores en el rank 1</a:t>
            </a:r>
          </a:p>
          <a:p>
            <a:pPr>
              <a:spcAft>
                <a:spcPts val="600"/>
              </a:spcAft>
            </a:pPr>
            <a:r>
              <a:rPr sz="1600"/>
              <a:t>• Q03: el reranker baja el ítem correcto al rank 9 y prefiere el distractor (Adobe sin equivalente)</a:t>
            </a:r>
          </a:p>
          <a:p>
            <a:pPr>
              <a:spcAft>
                <a:spcPts val="600"/>
              </a:spcAft>
            </a:pPr>
            <a:r>
              <a:rPr sz="1600"/>
              <a:t>• Q13 (&gt; 30 % sobre el valor referencial) falla en todas: hay que comparar números</a:t>
            </a:r>
          </a:p>
          <a:p>
            <a:pPr>
              <a:spcAft>
                <a:spcPts val="600"/>
              </a:spcAft>
            </a:pPr>
            <a:r>
              <a:rPr sz="1600"/>
              <a:t>• Negativo: Recall@5 de C (0,90) &lt; B (0,94); B − A y C − B cruzan cero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Experimento 2: closed-book vs RAG</a:t>
            </a:r>
          </a:p>
        </p:txBody>
      </p:sp>
      <p:pic>
        <p:nvPicPr>
          <p:cNvPr id="3" name="Picture 2" descr="exp2_audi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583680" cy="170321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23444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300"/>
                        <a:t>Auditoría manual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Closed-book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RAG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Correctas / parciales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0 / 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8 / 1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Abstención en controles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2/2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0/2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Faithfulness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0/1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16/19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Citas que sustentan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-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12/25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Citas en qrels (auto)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-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300"/>
                        <a:t>12/25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977639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Mismo Qwen2.5-1.5B, 12 preguntas fijadas y greedy; solo cambia el contexto (vacío vs top-5 de C)</a:t>
            </a:r>
          </a:p>
          <a:p>
            <a:pPr>
              <a:spcAft>
                <a:spcPts val="600"/>
              </a:spcAft>
            </a:pPr>
            <a:r>
              <a:rPr sz="1600"/>
              <a:t>• Q21 (sanción, sin evidencia): "el Tribunal impuso una sanción de S/ 184,500.00" citando la buena pro E01-P06</a:t>
            </a:r>
          </a:p>
          <a:p>
            <a:pPr>
              <a:spcAft>
                <a:spcPts val="600"/>
              </a:spcAft>
            </a:pPr>
            <a:r>
              <a:rPr sz="1600"/>
              <a:t>• Q22: inventa un plazo de "30 días"; Q15: dice que no aceptaba equivalentes y luego que sí</a:t>
            </a:r>
          </a:p>
          <a:p>
            <a:pPr>
              <a:spcAft>
                <a:spcPts val="600"/>
              </a:spcAft>
            </a:pPr>
            <a:r>
              <a:rPr sz="1600"/>
              <a:t>• Q12: respuesta correcta, pero cita E50-P01 en vez de E50-P05 (postores)</a:t>
            </a:r>
          </a:p>
          <a:p>
            <a:pPr>
              <a:spcAft>
                <a:spcPts val="600"/>
              </a:spcAft>
            </a:pPr>
            <a:r>
              <a:rPr sz="1600"/>
              <a:t>• Q04: la cita está en qrels pero no sustenta lo que dice: auto 12/25 y manual 12/25 no son las mismas citas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Experimento 3: herramienta ocds.indicadores_proceso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11338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Entrada: ocid (patrón SEACE) y tender_item_id (entero estricto); extra=forbid</a:t>
            </a:r>
          </a:p>
          <a:p>
            <a:pPr>
              <a:spcAft>
                <a:spcPts val="600"/>
              </a:spcAft>
            </a:pPr>
            <a:r>
              <a:rPr sz="1700"/>
              <a:t>• Dominio: el ocid existe, el ítem es del proceso, hay que elegir ítem si hay varios</a:t>
            </a:r>
          </a:p>
          <a:p>
            <a:pPr>
              <a:spcAft>
                <a:spcPts val="600"/>
              </a:spcAft>
            </a:pPr>
            <a:r>
              <a:rPr sz="1700"/>
              <a:t>• Salida: único postor, adjudicado / valor ref., "o equivalente" en objeto vs ítem; tipos y coherencia</a:t>
            </a:r>
          </a:p>
          <a:p>
            <a:pPr>
              <a:spcAft>
                <a:spcPts val="600"/>
              </a:spcAft>
            </a:pPr>
            <a:r>
              <a:rPr sz="1700"/>
              <a:t>• Se reintenta solo transient y timeout (solo lectura, 3 intentos, 100 ms por intento, deadline 300 ms)</a:t>
            </a:r>
          </a:p>
          <a:p>
            <a:pPr lvl="1">
              <a:spcAft>
                <a:spcPts val="600"/>
              </a:spcAft>
            </a:pPr>
            <a:r>
              <a:rPr sz="1400"/>
              <a:t>- No: validation, domain, output_contract, execution (reintentar da el mismo error)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37033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97280"/>
                <a:gridCol w="2377440"/>
                <a:gridCol w="2286000"/>
                <a:gridCol w="109728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1400"/>
                        <a:t>Política (16 casos)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Cumplen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Entradas inválidas ejecutadas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Salidas inválidas aceptadas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Intentos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Reintentos inútiles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A sin contratos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6/16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B contratos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14/16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 reintenta todo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29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10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D reintento selectivo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16/16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7150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/>
              <a:t>• A acepta un argumento inventado y devuelve ok; también deja pasar n_postores = −1</a:t>
            </a:r>
          </a:p>
          <a:p>
            <a:pPr>
              <a:spcAft>
                <a:spcPts val="600"/>
              </a:spcAft>
            </a:pPr>
            <a:r>
              <a:rPr sz="1500"/>
              <a:t>• 22 pruebas con pytest: válida, inválida, dominio, transitorio, timeout, error interno, salida rota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Resultados, errores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/>
              <a:t>• La unidad de recuperación importó más que el método: pasaje + encabezado subió el MRR en 0,18 frente a la PC2</a:t>
            </a:r>
          </a:p>
          <a:p>
            <a:pPr>
              <a:spcAft>
                <a:spcPts val="600"/>
              </a:spcAft>
            </a:pPr>
            <a:r>
              <a:rPr sz="1900"/>
              <a:t>• BM25 + RRF no mejora en promedio; ayuda con códigos exactos y empeora cuando la fusión adelanta un distractor</a:t>
            </a:r>
          </a:p>
          <a:p>
            <a:pPr>
              <a:spcAft>
                <a:spcPts val="600"/>
              </a:spcAft>
            </a:pPr>
            <a:r>
              <a:rPr sz="1900"/>
              <a:t>• El Cross-Encoder mejora el inicio del ranking (Recall@1 0,41 -&gt; 0,61) a ~1 s por consulta; contra B no es concluyente</a:t>
            </a:r>
          </a:p>
          <a:p>
            <a:pPr>
              <a:spcAft>
                <a:spcPts val="600"/>
              </a:spcAft>
            </a:pPr>
            <a:r>
              <a:rPr sz="1900"/>
              <a:t>• RAG: 8 correctas y 1 parcial de 10, pero 0/2 abstenciones y 13 de 25 citas no sustentan nada</a:t>
            </a:r>
          </a:p>
          <a:p>
            <a:pPr lvl="1">
              <a:spcAft>
                <a:spcPts val="600"/>
              </a:spcAft>
            </a:pPr>
            <a:r>
              <a:rPr sz="1600"/>
              <a:t>- Una respuesta citada no es una respuesta verificada</a:t>
            </a:r>
          </a:p>
          <a:p>
            <a:pPr>
              <a:spcAft>
                <a:spcPts val="600"/>
              </a:spcAft>
            </a:pPr>
            <a:r>
              <a:rPr sz="1900"/>
              <a:t>• La herramienta con contratos evita ejecuciones inválidas silenciosas; reintentar todo gasta sin ganar</a:t>
            </a:r>
          </a:p>
          <a:p>
            <a:pPr>
              <a:spcAft>
                <a:spcPts val="600"/>
              </a:spcAft>
            </a:pPr>
            <a:r>
              <a:rPr sz="1900"/>
              <a:t>• Limitaciones: 20 consultas, qrels y auditoría nuestros, sin las bases en PDF, un solo LLM pequeño, fallos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